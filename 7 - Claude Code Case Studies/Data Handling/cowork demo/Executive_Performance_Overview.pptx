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Books</c:v>
                  </c:pt>
                  <c:pt idx="1">
                    <c:v>Fashion</c:v>
                  </c:pt>
                  <c:pt idx="2">
                    <c:v>Home</c:v>
                  </c:pt>
                  <c:pt idx="3">
                    <c:v>Electronics</c:v>
                  </c:pt>
                  <c:pt idx="4">
                    <c:v>Automotive</c:v>
                  </c:pt>
                  <c:pt idx="5">
                    <c:v>Toys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322</c:v>
                </c:pt>
                <c:pt idx="1">
                  <c:v>347</c:v>
                </c:pt>
                <c:pt idx="2">
                  <c:v>350</c:v>
                </c:pt>
                <c:pt idx="3">
                  <c:v>350</c:v>
                </c:pt>
                <c:pt idx="4">
                  <c:v>373</c:v>
                </c:pt>
                <c:pt idx="5">
                  <c:v>376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BAE6F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5080" cap="flat">
              <a:solidFill>
                <a:srgbClr val="1E348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C8AB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1B4D"/>
        </a:solidFill>
        <a:ln>
          <a:noFill/>
        </a:ln>
        <a:effectLst/>
      </c:spPr>
    </c:plotArea>
    <c:plotVisOnly val="1"/>
    <c:dispBlanksAs val="span"/>
  </c:chart>
  <c:spPr>
    <a:solidFill>
      <a:srgbClr val="0B1B4D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Channel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8BDF8"/>
              </a:solidFill>
              <a:effectLst/>
            </c:spPr>
          </c:dPt>
          <c:dPt>
            <c:idx val="1"/>
            <c:bubble3D val="0"/>
            <c:spPr>
              <a:solidFill>
                <a:srgbClr val="1E3F8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In-Store</c:v>
                </c:pt>
                <c:pt idx="1">
                  <c:v>Online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1094056</c:v>
                </c:pt>
                <c:pt idx="1">
                  <c:v>1023055</c:v>
                </c:pt>
              </c:numCache>
            </c:numRef>
          </c:val>
        </c:ser>
        <c:firstSliceAng val="0"/>
        <c:holeSize val="58"/>
      </c:doughnutChart>
      <c:spPr>
        <a:solidFill>
          <a:srgbClr val="0B1B4D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BAE6FD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B1B4D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E68B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68B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8BDF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DD3FC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2023*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823</c:v>
                </c:pt>
                <c:pt idx="1">
                  <c:v>1062</c:v>
                </c:pt>
                <c:pt idx="2">
                  <c:v>233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BAE6F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5080" cap="flat">
              <a:solidFill>
                <a:srgbClr val="1E348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C8AB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1B4D"/>
        </a:solidFill>
        <a:ln>
          <a:noFill/>
        </a:ln>
        <a:effectLst/>
      </c:spPr>
    </c:plotArea>
    <c:plotVisOnly val="1"/>
    <c:dispBlanksAs val="span"/>
  </c:chart>
  <c:spPr>
    <a:solidFill>
      <a:srgbClr val="0B1B4D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60E2E"/>
          </a:solidFill>
          <a:ln w="12700">
            <a:solidFill>
              <a:srgbClr val="060E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66928"/>
            <a:ext cx="9144000" cy="2743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spc="2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PERFORMANCE OVERVIEW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543800" y="109728"/>
            <a:ext cx="1371600" cy="3383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43800" y="109728"/>
            <a:ext cx="1371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2021 – 2023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74320" y="676656"/>
            <a:ext cx="1965960" cy="932688"/>
          </a:xfrm>
          <a:prstGeom prst="rect">
            <a:avLst/>
          </a:prstGeom>
          <a:solidFill>
            <a:srgbClr val="101F55"/>
          </a:solidFill>
          <a:ln w="9525">
            <a:solidFill>
              <a:srgbClr val="1E348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676656"/>
            <a:ext cx="1965960" cy="4114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758952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₹21.2L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384048" y="12252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8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84048" y="1389888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C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Sales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345436" y="676656"/>
            <a:ext cx="1965960" cy="932688"/>
          </a:xfrm>
          <a:prstGeom prst="rect">
            <a:avLst/>
          </a:prstGeom>
          <a:solidFill>
            <a:srgbClr val="101F55"/>
          </a:solidFill>
          <a:ln w="9525">
            <a:solidFill>
              <a:srgbClr val="1E348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345436" y="676656"/>
            <a:ext cx="1965960" cy="41148"/>
          </a:xfrm>
          <a:prstGeom prst="rect">
            <a:avLst/>
          </a:prstGeom>
          <a:solidFill>
            <a:srgbClr val="7DD3FC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55164" y="758952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2455164" y="12252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8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455164" y="1389888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C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Buyers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416552" y="676656"/>
            <a:ext cx="1965960" cy="932688"/>
          </a:xfrm>
          <a:prstGeom prst="rect">
            <a:avLst/>
          </a:prstGeom>
          <a:solidFill>
            <a:srgbClr val="101F55"/>
          </a:solidFill>
          <a:ln w="9525">
            <a:solidFill>
              <a:srgbClr val="1E348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416552" y="676656"/>
            <a:ext cx="1965960" cy="41148"/>
          </a:xfrm>
          <a:prstGeom prst="rect">
            <a:avLst/>
          </a:prstGeom>
          <a:solidFill>
            <a:srgbClr val="BAE6FD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26280" y="758952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₹706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4526280" y="12252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8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ORDER VALUE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526280" y="1389888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6C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Transaction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6487668" y="676656"/>
            <a:ext cx="1965960" cy="932688"/>
          </a:xfrm>
          <a:prstGeom prst="rect">
            <a:avLst/>
          </a:prstGeom>
          <a:solidFill>
            <a:srgbClr val="101F55"/>
          </a:solidFill>
          <a:ln w="9525">
            <a:solidFill>
              <a:srgbClr val="1E348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87668" y="676656"/>
            <a:ext cx="1965960" cy="41148"/>
          </a:xfrm>
          <a:prstGeom prst="rect">
            <a:avLst/>
          </a:prstGeom>
          <a:solidFill>
            <a:srgbClr val="FCA5A5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97396" y="758952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50.3%</a:t>
            </a:r>
            <a:endParaRPr lang="en-US" sz="2700" dirty="0"/>
          </a:p>
        </p:txBody>
      </p:sp>
      <p:sp>
        <p:nvSpPr>
          <p:cNvPr id="25" name="Text 23"/>
          <p:cNvSpPr/>
          <p:nvPr/>
        </p:nvSpPr>
        <p:spPr>
          <a:xfrm>
            <a:off x="6597396" y="1225296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8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RATE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597396" y="1389888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Action Required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274320" y="1664208"/>
            <a:ext cx="8595360" cy="13716"/>
          </a:xfrm>
          <a:prstGeom prst="rect">
            <a:avLst/>
          </a:prstGeom>
          <a:solidFill>
            <a:srgbClr val="1E3480"/>
          </a:solidFill>
          <a:ln w="12700">
            <a:solidFill>
              <a:srgbClr val="1E348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58968" y="1728216"/>
            <a:ext cx="13716" cy="3246120"/>
          </a:xfrm>
          <a:prstGeom prst="rect">
            <a:avLst/>
          </a:prstGeom>
          <a:solidFill>
            <a:srgbClr val="1E3480"/>
          </a:solidFill>
          <a:ln w="12700">
            <a:solidFill>
              <a:srgbClr val="1E34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1709928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150" kern="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CATEGORY  (₹ Thousands)</a:t>
            </a:r>
            <a:endParaRPr lang="en-US" sz="750" dirty="0"/>
          </a:p>
        </p:txBody>
      </p:sp>
      <p:graphicFrame>
        <p:nvGraphicFramePr>
          <p:cNvPr id="30" name="Chart 0" descr=""/>
          <p:cNvGraphicFramePr/>
          <p:nvPr/>
        </p:nvGraphicFramePr>
        <p:xfrm>
          <a:off x="274320" y="1920240"/>
          <a:ext cx="507492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1" name="Text 28"/>
          <p:cNvSpPr/>
          <p:nvPr/>
        </p:nvSpPr>
        <p:spPr>
          <a:xfrm>
            <a:off x="5577840" y="170992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150" kern="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CHANNEL SPLIT</a:t>
            </a:r>
            <a:endParaRPr lang="en-US" sz="750" dirty="0"/>
          </a:p>
        </p:txBody>
      </p:sp>
      <p:graphicFrame>
        <p:nvGraphicFramePr>
          <p:cNvPr id="32" name="Chart 1" descr=""/>
          <p:cNvGraphicFramePr/>
          <p:nvPr/>
        </p:nvGraphicFramePr>
        <p:xfrm>
          <a:off x="5577840" y="1911096"/>
          <a:ext cx="329184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3" name="Text 29"/>
          <p:cNvSpPr/>
          <p:nvPr/>
        </p:nvSpPr>
        <p:spPr>
          <a:xfrm>
            <a:off x="5577840" y="395020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150" kern="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YEAR-ON-YEAR REVENUE  (₹ Thousands)</a:t>
            </a:r>
            <a:endParaRPr lang="en-US" sz="750" dirty="0"/>
          </a:p>
        </p:txBody>
      </p:sp>
      <p:graphicFrame>
        <p:nvGraphicFramePr>
          <p:cNvPr id="34" name="Chart 2" descr=""/>
          <p:cNvGraphicFramePr/>
          <p:nvPr/>
        </p:nvGraphicFramePr>
        <p:xfrm>
          <a:off x="5577840" y="4133088"/>
          <a:ext cx="3291840" cy="914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35" name="Shape 30"/>
          <p:cNvSpPr/>
          <p:nvPr/>
        </p:nvSpPr>
        <p:spPr>
          <a:xfrm>
            <a:off x="0" y="5047488"/>
            <a:ext cx="9144000" cy="96012"/>
          </a:xfrm>
          <a:prstGeom prst="rect">
            <a:avLst/>
          </a:prstGeom>
          <a:solidFill>
            <a:srgbClr val="060E2E"/>
          </a:solidFill>
          <a:ln w="12700">
            <a:solidFill>
              <a:srgbClr val="060E2E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274320" y="5047488"/>
            <a:ext cx="8595360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5A7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2023 data is partial    |    Source: Customer &amp; Transaction Database    |    Confidential — For Internal Use Only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2026-02-28T11:13:24Z</dcterms:created>
  <dcterms:modified xsi:type="dcterms:W3CDTF">2026-02-28T11:13:24Z</dcterms:modified>
</cp:coreProperties>
</file>